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62" r:id="rId14"/>
    <p:sldId id="261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245384-212A-4D10-8D64-0402729215DD}" v="4" dt="2025-04-09T20:33:55.4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2857"/>
  </p:normalViewPr>
  <p:slideViewPr>
    <p:cSldViewPr snapToGrid="0">
      <p:cViewPr varScale="1">
        <p:scale>
          <a:sx n="140" d="100"/>
          <a:sy n="140" d="100"/>
        </p:scale>
        <p:origin x="138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bb510c4d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bb510c4d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ab4a1d56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ab4a1d56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9dc3acc5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39dc3acc5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39dc3acc5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39dc3acc5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Went to the EC2 page, pressed the launch instance button. Named the instance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jupyter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chose the free-tier option.</a:t>
            </a:r>
            <a:r>
              <a:rPr lang="en-US" dirty="0">
                <a:effectLst/>
              </a:rPr>
              <a:t> 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>
                <a:effectLst/>
              </a:rPr>
              <a:t>2)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Chose the free tier options, and chosen the previously created key pair.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>
                <a:effectLst/>
              </a:rPr>
              <a:t>3)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Chosen the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vpc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public subnet, and enabled auto-assigned the public IP. Created a security group.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4)Ensured that port 8888 is added to the security group. 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5)Ensured that the instance is created and running. (forgot to screenshot so used groupmate’s screenshot on creating instances) 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1998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Moved to the terminal, ensuring that it is connecting to localhost 8888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Created the ec2_assignment directory, and switched to it. Created a virtual environment and activated it.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Created the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requirements.txt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file, which contains all the necessary libraries for the project.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Pip installed the libraries from the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requirements.txt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file.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Going to the link provided in the terminal window to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opne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jupyter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notebook page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9928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33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3ab4a1d56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3ab4a1d56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www.kaggle.com/datasets/thedevastator/jobs-dataset-from-glassdoor/data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109700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Implementing AWS for Salary Analysis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3865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D9D9D9"/>
                </a:solidFill>
              </a:rPr>
              <a:t>Group 8: Jupiter Kang, Crystal Kao, Alonso Romero </a:t>
            </a:r>
            <a:endParaRPr sz="2200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19100" y="445025"/>
            <a:ext cx="8413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 of Project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419100" y="1152475"/>
            <a:ext cx="8105700" cy="3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Objective: Compare salaries of job listings based on if AWS is listed as a requirement in the description to see if knowing AWS pays more than jobs without AWS in the description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Compared to all data science job listings in 2017 on Glassdoor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Goal: Create a dashboard in QuickSight to visualize our findings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740325" y="85725"/>
            <a:ext cx="4755600" cy="5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 and Features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800100" y="714375"/>
            <a:ext cx="8134500" cy="42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21"/>
              <a:t>2017-2018 data: </a:t>
            </a:r>
            <a:r>
              <a:rPr lang="en" sz="1821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https://www.kaggle.com/datasets/thedevastator/jobs-dataset-from-glassdoor/data</a:t>
            </a:r>
            <a:endParaRPr sz="182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21"/>
              <a:t>32 columns, 742 rows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1425" y="631100"/>
            <a:ext cx="6935125" cy="98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 rotWithShape="1">
          <a:blip r:embed="rId6">
            <a:alphaModFix/>
          </a:blip>
          <a:srcRect r="25412"/>
          <a:stretch/>
        </p:blipFill>
        <p:spPr>
          <a:xfrm>
            <a:off x="639550" y="1654000"/>
            <a:ext cx="3575375" cy="211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73850" y="1654000"/>
            <a:ext cx="4825099" cy="229544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>
            <a:off x="639550" y="2064725"/>
            <a:ext cx="3513900" cy="117000"/>
          </a:xfrm>
          <a:prstGeom prst="rect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639550" y="1910825"/>
            <a:ext cx="3513900" cy="153900"/>
          </a:xfrm>
          <a:prstGeom prst="rect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to Implement</a:t>
            </a: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6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S3 Bucket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Store data in buckets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Create static website to display findings in one place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VPC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Create internet gateways, subnets, and routing tables for EC2 instances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EC2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Create instances from computing sources in the cloud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Run a </a:t>
            </a:r>
            <a:r>
              <a:rPr lang="en" dirty="0" err="1"/>
              <a:t>Jupyter</a:t>
            </a:r>
            <a:r>
              <a:rPr lang="en" dirty="0"/>
              <a:t> Notebook or Python file to preprocess data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 err="1"/>
              <a:t>QuickSight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Connect with data from S3 bucket to create dashboards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Create histogram to show the distribution of salaries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Architecture</a:t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456775" y="1579125"/>
            <a:ext cx="1818000" cy="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Kaggle Dataset</a:t>
            </a:r>
            <a:endParaRPr sz="18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Raw Data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5" name="Google Shape;85;p17"/>
          <p:cNvCxnSpPr>
            <a:stCxn id="84" idx="3"/>
            <a:endCxn id="86" idx="2"/>
          </p:cNvCxnSpPr>
          <p:nvPr/>
        </p:nvCxnSpPr>
        <p:spPr>
          <a:xfrm>
            <a:off x="2274775" y="1926225"/>
            <a:ext cx="170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" name="Google Shape;88;p17"/>
          <p:cNvSpPr txBox="1"/>
          <p:nvPr/>
        </p:nvSpPr>
        <p:spPr>
          <a:xfrm>
            <a:off x="6811250" y="2056338"/>
            <a:ext cx="14019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QuickSight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9" name="Google Shape;89;p17"/>
          <p:cNvCxnSpPr>
            <a:stCxn id="86" idx="4"/>
            <a:endCxn id="88" idx="1"/>
          </p:cNvCxnSpPr>
          <p:nvPr/>
        </p:nvCxnSpPr>
        <p:spPr>
          <a:xfrm>
            <a:off x="4929350" y="1926213"/>
            <a:ext cx="1881900" cy="38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" name="Google Shape;90;p17"/>
          <p:cNvSpPr/>
          <p:nvPr/>
        </p:nvSpPr>
        <p:spPr>
          <a:xfrm>
            <a:off x="1221000" y="3108600"/>
            <a:ext cx="6566400" cy="180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VPC</a:t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3979675" y="1415200"/>
            <a:ext cx="949675" cy="1022025"/>
          </a:xfrm>
          <a:prstGeom prst="flowChartMagneticDisk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1537575" y="3305225"/>
            <a:ext cx="2424000" cy="132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 Subnet</a:t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2844475" y="3556113"/>
            <a:ext cx="868200" cy="694200"/>
          </a:xfrm>
          <a:prstGeom prst="cube">
            <a:avLst>
              <a:gd name="adj" fmla="val 2500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EC2</a:t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5037875" y="3305225"/>
            <a:ext cx="2424000" cy="132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Private Subnet</a:t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5200675" y="3556113"/>
            <a:ext cx="868200" cy="694200"/>
          </a:xfrm>
          <a:prstGeom prst="cube">
            <a:avLst>
              <a:gd name="adj" fmla="val 2500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EC2</a:t>
            </a:r>
            <a:endParaRPr/>
          </a:p>
        </p:txBody>
      </p:sp>
      <p:cxnSp>
        <p:nvCxnSpPr>
          <p:cNvPr id="95" name="Google Shape;95;p17"/>
          <p:cNvCxnSpPr>
            <a:stCxn id="91" idx="3"/>
            <a:endCxn id="93" idx="1"/>
          </p:cNvCxnSpPr>
          <p:nvPr/>
        </p:nvCxnSpPr>
        <p:spPr>
          <a:xfrm>
            <a:off x="3961575" y="3969875"/>
            <a:ext cx="1076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6" name="Google Shape;96;p17"/>
          <p:cNvCxnSpPr>
            <a:cxnSpLocks/>
            <a:stCxn id="86" idx="3"/>
            <a:endCxn id="92" idx="0"/>
          </p:cNvCxnSpPr>
          <p:nvPr/>
        </p:nvCxnSpPr>
        <p:spPr>
          <a:xfrm flipH="1">
            <a:off x="3365350" y="2437225"/>
            <a:ext cx="1089163" cy="11188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7" name="Google Shape;97;p17"/>
          <p:cNvSpPr txBox="1"/>
          <p:nvPr/>
        </p:nvSpPr>
        <p:spPr>
          <a:xfrm>
            <a:off x="6421600" y="3712575"/>
            <a:ext cx="8682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Python File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6811250" y="1343125"/>
            <a:ext cx="1401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Website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99" name="Google Shape;99;p17"/>
          <p:cNvCxnSpPr>
            <a:stCxn id="86" idx="4"/>
            <a:endCxn id="98" idx="1"/>
          </p:cNvCxnSpPr>
          <p:nvPr/>
        </p:nvCxnSpPr>
        <p:spPr>
          <a:xfrm rot="10800000" flipH="1">
            <a:off x="4929350" y="1562613"/>
            <a:ext cx="1881900" cy="36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0" name="Google Shape;100;p17"/>
          <p:cNvCxnSpPr>
            <a:cxnSpLocks/>
            <a:stCxn id="92" idx="0"/>
            <a:endCxn id="86" idx="3"/>
          </p:cNvCxnSpPr>
          <p:nvPr/>
        </p:nvCxnSpPr>
        <p:spPr>
          <a:xfrm flipV="1">
            <a:off x="3365350" y="2437225"/>
            <a:ext cx="1089163" cy="11188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17575-780A-B0A8-9D39-A3B1B075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806" y="1868667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VPC creation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61B9C8-B1AA-00F4-CB79-86F5C6232F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55" y="184260"/>
            <a:ext cx="4043045" cy="4514215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3923CA-7C8F-6461-08B0-B43D92F613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121" y="500905"/>
            <a:ext cx="3943985" cy="4458335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4A85DD-43C0-A2B0-A4E1-AFF05699CA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817" y="208753"/>
            <a:ext cx="3952875" cy="4130675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A09A38-5364-44C1-48DB-43530E067EE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988" y="705802"/>
            <a:ext cx="3962400" cy="4123055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205678-2F03-93EF-0008-A7698E44D41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64" y="208753"/>
            <a:ext cx="7406324" cy="425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81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5B3BB8D4-453D-04F5-7353-F0A2A6B729C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4" b="27906"/>
          <a:stretch/>
        </p:blipFill>
        <p:spPr bwMode="auto">
          <a:xfrm>
            <a:off x="2143805" y="547869"/>
            <a:ext cx="4562475" cy="12719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DDEC53D5-714E-6F23-0072-3B04C2FEA16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628"/>
          <a:stretch/>
        </p:blipFill>
        <p:spPr bwMode="auto">
          <a:xfrm>
            <a:off x="2143805" y="1819774"/>
            <a:ext cx="4562475" cy="6356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6E92856A-4AA7-7111-5834-AF61185EAC7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818"/>
          <a:stretch/>
        </p:blipFill>
        <p:spPr bwMode="auto">
          <a:xfrm>
            <a:off x="2143805" y="2455409"/>
            <a:ext cx="4562475" cy="3721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9D01DF36-05E9-3AE7-BD56-844763CFA6C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805" y="2808514"/>
            <a:ext cx="4562475" cy="173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22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DAF820-1EBA-5B55-5750-B9B6C84E2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93" y="307729"/>
            <a:ext cx="7772400" cy="430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46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290842-DCD8-AB82-B5C2-2856FBE025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316"/>
          <a:stretch/>
        </p:blipFill>
        <p:spPr>
          <a:xfrm>
            <a:off x="472205" y="1484108"/>
            <a:ext cx="8199589" cy="217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204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3CA9A247-028B-2C57-F222-5D0CB9864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29" y="1811564"/>
            <a:ext cx="8624176" cy="152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220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black diagram of a manta ray&#10;&#10;AI-generated content may be incorrect.">
            <a:extLst>
              <a:ext uri="{FF2B5EF4-FFF2-40B4-BE49-F238E27FC236}">
                <a16:creationId xmlns:a16="http://schemas.microsoft.com/office/drawing/2014/main" id="{F3622BB6-F08C-D462-787A-6C607AE9B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98" y="136089"/>
            <a:ext cx="6730682" cy="500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60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showing a number of different colored shapes&#10;&#10;AI-generated content may be incorrect.">
            <a:extLst>
              <a:ext uri="{FF2B5EF4-FFF2-40B4-BE49-F238E27FC236}">
                <a16:creationId xmlns:a16="http://schemas.microsoft.com/office/drawing/2014/main" id="{07CE95D7-8ECE-48D7-BC21-3691F7748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79823"/>
            <a:ext cx="7772400" cy="2414725"/>
          </a:xfrm>
          <a:prstGeom prst="rect">
            <a:avLst/>
          </a:prstGeom>
        </p:spPr>
      </p:pic>
      <p:pic>
        <p:nvPicPr>
          <p:cNvPr id="7" name="Picture 6" descr="A close up of numbers&#10;&#10;AI-generated content may be incorrect.">
            <a:extLst>
              <a:ext uri="{FF2B5EF4-FFF2-40B4-BE49-F238E27FC236}">
                <a16:creationId xmlns:a16="http://schemas.microsoft.com/office/drawing/2014/main" id="{74E0CEBC-274D-088B-3D97-2C0FB2922A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15"/>
          <a:stretch/>
        </p:blipFill>
        <p:spPr>
          <a:xfrm>
            <a:off x="1739900" y="3450770"/>
            <a:ext cx="5664200" cy="87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233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CE7D1-2828-4B44-81B4-12073A5FA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Dashboard Recording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325CF-F94E-72A2-2EA0-3F1BA687D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925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428625" y="445025"/>
            <a:ext cx="810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</a:t>
            </a:r>
            <a:endParaRPr dirty="0"/>
          </a:p>
        </p:txBody>
      </p:sp>
      <p:sp>
        <p:nvSpPr>
          <p:cNvPr id="106" name="Google Shape;106;p18"/>
          <p:cNvSpPr txBox="1">
            <a:spLocks noGrp="1"/>
          </p:cNvSpPr>
          <p:nvPr>
            <p:ph type="body" idx="1"/>
          </p:nvPr>
        </p:nvSpPr>
        <p:spPr>
          <a:xfrm>
            <a:off x="485775" y="1152475"/>
            <a:ext cx="8048700" cy="35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dirty="0"/>
              <a:t>Hypothesis: Jobs that require AWS skill tend to have a higher pay than jobs that don’t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dirty="0"/>
              <a:t>Conclusion</a:t>
            </a:r>
            <a:r>
              <a:rPr lang="en-US"/>
              <a:t>: Yes, </a:t>
            </a:r>
            <a:r>
              <a:rPr lang="en-US" dirty="0"/>
              <a:t>jobs that require AWS skill tends to have a higher pay than jobs that don’t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Factors for consideration on salary differences: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Cost of living (Location)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Company type (Type of Ownership - government, private, etc.)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Industry/sector (Industry or Sector)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Experience level (Seniority)</a:t>
            </a: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5584BC-3CEA-F507-F586-FB25B1873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633192"/>
              </p:ext>
            </p:extLst>
          </p:nvPr>
        </p:nvGraphicFramePr>
        <p:xfrm>
          <a:off x="1345770" y="3887384"/>
          <a:ext cx="6096000" cy="1112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0994725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9802039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54981868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487065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Contains 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 Salary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Avg. Salary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Max 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52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$86K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$116K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$146K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092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$73K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$98K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$125K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2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3127</TotalTime>
  <Words>462</Words>
  <Application>Microsoft Macintosh PowerPoint</Application>
  <PresentationFormat>On-screen Show (16:9)</PresentationFormat>
  <Paragraphs>93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Aptos</vt:lpstr>
      <vt:lpstr>Arial</vt:lpstr>
      <vt:lpstr>Simple Light</vt:lpstr>
      <vt:lpstr>Implementing AWS for Salary Analysis </vt:lpstr>
      <vt:lpstr>Scope of Project</vt:lpstr>
      <vt:lpstr>Data Source and Features</vt:lpstr>
      <vt:lpstr>Features to Implement</vt:lpstr>
      <vt:lpstr>Project Architecture</vt:lpstr>
      <vt:lpstr>VPC creation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Dashboard Recording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Microsoft Office User</cp:lastModifiedBy>
  <cp:revision>6</cp:revision>
  <dcterms:modified xsi:type="dcterms:W3CDTF">2025-04-14T01:01:43Z</dcterms:modified>
</cp:coreProperties>
</file>