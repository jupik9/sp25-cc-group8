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62" r:id="rId14"/>
    <p:sldId id="261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45384-212A-4D10-8D64-0402729215DD}" v="4" dt="2025-04-09T20:33:55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89"/>
  </p:normalViewPr>
  <p:slideViewPr>
    <p:cSldViewPr snapToGrid="0">
      <p:cViewPr varScale="1">
        <p:scale>
          <a:sx n="156" d="100"/>
          <a:sy n="156" d="100"/>
        </p:scale>
        <p:origin x="25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bb510c4d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bb510c4d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ab4a1d56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ab4a1d56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9dc3acc5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9dc3acc5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9dc3acc5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9dc3acc5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ab4a1d5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ab4a1d5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kaggle.com/datasets/thedevastator/jobs-dataset-from-glassdoor/dat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0970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Implementing AWS for Salary Analysis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3865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D9D9D9"/>
                </a:solidFill>
              </a:rPr>
              <a:t>Group 8: Jupiter Kang, Crystal Kao, Alonso Romero </a:t>
            </a:r>
            <a:endParaRPr sz="22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19100" y="445025"/>
            <a:ext cx="841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of Project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19100" y="1152475"/>
            <a:ext cx="8105700" cy="3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Objective: Compare salaries of job listings based on if AWS is listed as a requirement in the description to see if knowing AWS pays more than jobs without AWS in the description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Compared to all data science job listings in 2017 on Glassdoor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Goal: Create a dashboard in QuickSight to visualize our findings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740325" y="85725"/>
            <a:ext cx="47556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 and Features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800100" y="714375"/>
            <a:ext cx="8134500" cy="42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1"/>
              <a:t>2017-2018 data: </a:t>
            </a:r>
            <a:r>
              <a:rPr lang="en" sz="1821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https://www.kaggle.com/datasets/thedevastator/jobs-dataset-from-glassdoor/data</a:t>
            </a:r>
            <a:endParaRPr sz="182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21"/>
              <a:t>32 columns, 742 rows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1425" y="631100"/>
            <a:ext cx="6935125" cy="98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6">
            <a:alphaModFix/>
          </a:blip>
          <a:srcRect r="25412"/>
          <a:stretch/>
        </p:blipFill>
        <p:spPr>
          <a:xfrm>
            <a:off x="639550" y="1654000"/>
            <a:ext cx="3575375" cy="21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73850" y="1654000"/>
            <a:ext cx="4825099" cy="229544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639550" y="2064725"/>
            <a:ext cx="3513900" cy="1170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639550" y="1910825"/>
            <a:ext cx="3513900" cy="1539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to Implement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S3 Bucket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Store data in buckets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static website to display findings in one place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VPC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internet gateways, subnets, and routing tables for EC2 instances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EC2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instances from computing sources in the cloud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Run a Jupyter Notebook or Python file to preprocess data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IAM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Control access to S3 bucket, QuickSight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Define IAM roles with specific permissions for different jobs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Set up billing alert and monitoring budgets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QuickSight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Connect with data from S3 bucket to create dashboards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 histogram to show the distribution of salaries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Architecture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456775" y="1579125"/>
            <a:ext cx="18180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Kaggle Dataset</a:t>
            </a:r>
            <a:endParaRPr sz="18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Raw Data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5" name="Google Shape;85;p17"/>
          <p:cNvCxnSpPr>
            <a:stCxn id="84" idx="3"/>
            <a:endCxn id="86" idx="2"/>
          </p:cNvCxnSpPr>
          <p:nvPr/>
        </p:nvCxnSpPr>
        <p:spPr>
          <a:xfrm>
            <a:off x="2274775" y="1926225"/>
            <a:ext cx="170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" name="Google Shape;87;p17"/>
          <p:cNvSpPr txBox="1"/>
          <p:nvPr/>
        </p:nvSpPr>
        <p:spPr>
          <a:xfrm>
            <a:off x="4157663" y="2670463"/>
            <a:ext cx="5937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IAM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6811250" y="2056338"/>
            <a:ext cx="14019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QuickSight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9" name="Google Shape;89;p17"/>
          <p:cNvCxnSpPr>
            <a:stCxn id="86" idx="4"/>
            <a:endCxn id="88" idx="1"/>
          </p:cNvCxnSpPr>
          <p:nvPr/>
        </p:nvCxnSpPr>
        <p:spPr>
          <a:xfrm>
            <a:off x="4929350" y="1926213"/>
            <a:ext cx="18819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90;p17"/>
          <p:cNvSpPr/>
          <p:nvPr/>
        </p:nvSpPr>
        <p:spPr>
          <a:xfrm>
            <a:off x="1221000" y="3108600"/>
            <a:ext cx="6566400" cy="180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VPC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3979675" y="1415200"/>
            <a:ext cx="949675" cy="1022025"/>
          </a:xfrm>
          <a:prstGeom prst="flowChartMagneticDisk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1537575" y="3305225"/>
            <a:ext cx="2424000" cy="132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Subnet</a:t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2844475" y="3556113"/>
            <a:ext cx="868200" cy="694200"/>
          </a:xfrm>
          <a:prstGeom prst="cube">
            <a:avLst>
              <a:gd name="adj" fmla="val 25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EC2</a:t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5037875" y="3305225"/>
            <a:ext cx="2424000" cy="132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Private Subnet</a:t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5200675" y="3556113"/>
            <a:ext cx="868200" cy="694200"/>
          </a:xfrm>
          <a:prstGeom prst="cube">
            <a:avLst>
              <a:gd name="adj" fmla="val 25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EC2</a:t>
            </a:r>
            <a:endParaRPr/>
          </a:p>
        </p:txBody>
      </p:sp>
      <p:cxnSp>
        <p:nvCxnSpPr>
          <p:cNvPr id="95" name="Google Shape;95;p17"/>
          <p:cNvCxnSpPr>
            <a:stCxn id="91" idx="3"/>
            <a:endCxn id="93" idx="1"/>
          </p:cNvCxnSpPr>
          <p:nvPr/>
        </p:nvCxnSpPr>
        <p:spPr>
          <a:xfrm>
            <a:off x="3961575" y="3969875"/>
            <a:ext cx="1076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96;p17"/>
          <p:cNvCxnSpPr>
            <a:stCxn id="86" idx="3"/>
            <a:endCxn id="94" idx="0"/>
          </p:cNvCxnSpPr>
          <p:nvPr/>
        </p:nvCxnSpPr>
        <p:spPr>
          <a:xfrm>
            <a:off x="4454513" y="2437225"/>
            <a:ext cx="1266900" cy="1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97;p17"/>
          <p:cNvSpPr txBox="1"/>
          <p:nvPr/>
        </p:nvSpPr>
        <p:spPr>
          <a:xfrm>
            <a:off x="6421600" y="3712575"/>
            <a:ext cx="8682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Python File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811250" y="1343125"/>
            <a:ext cx="1401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Website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9" name="Google Shape;99;p17"/>
          <p:cNvCxnSpPr>
            <a:stCxn id="86" idx="4"/>
            <a:endCxn id="98" idx="1"/>
          </p:cNvCxnSpPr>
          <p:nvPr/>
        </p:nvCxnSpPr>
        <p:spPr>
          <a:xfrm rot="10800000" flipH="1">
            <a:off x="4929350" y="1562613"/>
            <a:ext cx="1881900" cy="36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" name="Google Shape;100;p17"/>
          <p:cNvCxnSpPr>
            <a:stCxn id="94" idx="0"/>
            <a:endCxn id="86" idx="3"/>
          </p:cNvCxnSpPr>
          <p:nvPr/>
        </p:nvCxnSpPr>
        <p:spPr>
          <a:xfrm rot="10800000">
            <a:off x="4454650" y="2437113"/>
            <a:ext cx="1266900" cy="1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17575-780A-B0A8-9D39-A3B1B075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VPC creation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61B9C8-B1AA-00F4-CB79-86F5C6232F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5" y="184260"/>
            <a:ext cx="4043045" cy="451421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3923CA-7C8F-6461-08B0-B43D92F613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121" y="500905"/>
            <a:ext cx="3943985" cy="445833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4A85DD-43C0-A2B0-A4E1-AFF05699CA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17" y="208753"/>
            <a:ext cx="3952875" cy="413067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A09A38-5364-44C1-48DB-43530E067E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988" y="705802"/>
            <a:ext cx="3962400" cy="4123055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205678-2F03-93EF-0008-A7698E44D4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64" y="208753"/>
            <a:ext cx="7406324" cy="425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1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5B3BB8D4-453D-04F5-7353-F0A2A6B729C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" b="27906"/>
          <a:stretch/>
        </p:blipFill>
        <p:spPr bwMode="auto">
          <a:xfrm>
            <a:off x="2143805" y="547869"/>
            <a:ext cx="4562475" cy="12719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DDEC53D5-714E-6F23-0072-3B04C2FEA1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28"/>
          <a:stretch/>
        </p:blipFill>
        <p:spPr bwMode="auto">
          <a:xfrm>
            <a:off x="2143805" y="1819774"/>
            <a:ext cx="4562475" cy="6356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6E92856A-4AA7-7111-5834-AF61185EAC7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18"/>
          <a:stretch/>
        </p:blipFill>
        <p:spPr bwMode="auto">
          <a:xfrm>
            <a:off x="2143805" y="2455409"/>
            <a:ext cx="4562475" cy="3721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9D01DF36-05E9-3AE7-BD56-844763CFA6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805" y="2808514"/>
            <a:ext cx="4562475" cy="173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2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DAF820-1EBA-5B55-5750-B9B6C84E2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93" y="307729"/>
            <a:ext cx="7772400" cy="430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4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290842-DCD8-AB82-B5C2-2856FBE025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316"/>
          <a:stretch/>
        </p:blipFill>
        <p:spPr>
          <a:xfrm>
            <a:off x="472205" y="1484108"/>
            <a:ext cx="8199589" cy="217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04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CA9A247-028B-2C57-F222-5D0CB9864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" y="1811564"/>
            <a:ext cx="8624176" cy="152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20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diagram of a manta ray&#10;&#10;AI-generated content may be incorrect.">
            <a:extLst>
              <a:ext uri="{FF2B5EF4-FFF2-40B4-BE49-F238E27FC236}">
                <a16:creationId xmlns:a16="http://schemas.microsoft.com/office/drawing/2014/main" id="{F3622BB6-F08C-D462-787A-6C607AE9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98" y="136089"/>
            <a:ext cx="6730682" cy="500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60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a number of different colored shapes&#10;&#10;AI-generated content may be incorrect.">
            <a:extLst>
              <a:ext uri="{FF2B5EF4-FFF2-40B4-BE49-F238E27FC236}">
                <a16:creationId xmlns:a16="http://schemas.microsoft.com/office/drawing/2014/main" id="{07CE95D7-8ECE-48D7-BC21-3691F7748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9823"/>
            <a:ext cx="7772400" cy="2414725"/>
          </a:xfrm>
          <a:prstGeom prst="rect">
            <a:avLst/>
          </a:prstGeom>
        </p:spPr>
      </p:pic>
      <p:pic>
        <p:nvPicPr>
          <p:cNvPr id="7" name="Picture 6" descr="A close up of numbers&#10;&#10;AI-generated content may be incorrect.">
            <a:extLst>
              <a:ext uri="{FF2B5EF4-FFF2-40B4-BE49-F238E27FC236}">
                <a16:creationId xmlns:a16="http://schemas.microsoft.com/office/drawing/2014/main" id="{74E0CEBC-274D-088B-3D97-2C0FB2922A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15"/>
          <a:stretch/>
        </p:blipFill>
        <p:spPr>
          <a:xfrm>
            <a:off x="1739900" y="3450770"/>
            <a:ext cx="5664200" cy="87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33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E7D1-2828-4B44-81B4-12073A5F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Dashboard Recording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325CF-F94E-72A2-2EA0-3F1BA687D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25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428625" y="445025"/>
            <a:ext cx="810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485775" y="1152475"/>
            <a:ext cx="8048700" cy="35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dirty="0"/>
              <a:t>Hypothesis: Jobs that require AWS skill tend to have a higher pay than jobs that don’t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dirty="0"/>
              <a:t>Conclusion</a:t>
            </a:r>
            <a:r>
              <a:rPr lang="en-US"/>
              <a:t>: Yes, </a:t>
            </a:r>
            <a:r>
              <a:rPr lang="en-US" dirty="0"/>
              <a:t>jobs that require AWS skill tends to have a higher pay than jobs that don’t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Factors for consideration on salary differences: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Cost of living (Location)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Company type (Type of Ownership - government, private, etc.)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Industry/sector (Industry or Sector)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Experience level (Seniority)</a:t>
            </a: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5584BC-3CEA-F507-F586-FB25B1873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633192"/>
              </p:ext>
            </p:extLst>
          </p:nvPr>
        </p:nvGraphicFramePr>
        <p:xfrm>
          <a:off x="1345770" y="3887384"/>
          <a:ext cx="6096000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99472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9802039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4981868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48706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Contains 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 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Avg. 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 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52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$86K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$116K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$146K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092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$98K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$125K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2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3106</TotalTime>
  <Words>315</Words>
  <Application>Microsoft Macintosh PowerPoint</Application>
  <PresentationFormat>On-screen Show (16:9)</PresentationFormat>
  <Paragraphs>88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Implementing AWS for Salary Analysis </vt:lpstr>
      <vt:lpstr>Scope of Project</vt:lpstr>
      <vt:lpstr>Data Source and Features</vt:lpstr>
      <vt:lpstr>Features to Implement</vt:lpstr>
      <vt:lpstr>Project Architecture</vt:lpstr>
      <vt:lpstr>VPC creation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 Recording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4</cp:revision>
  <dcterms:modified xsi:type="dcterms:W3CDTF">2025-04-14T00:36:44Z</dcterms:modified>
</cp:coreProperties>
</file>