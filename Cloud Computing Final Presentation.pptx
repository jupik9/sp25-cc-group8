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245384-212A-4D10-8D64-0402729215DD}" v="4" dt="2025-04-09T20:33:55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72"/>
    <p:restoredTop sz="94684"/>
  </p:normalViewPr>
  <p:slideViewPr>
    <p:cSldViewPr snapToGrid="0">
      <p:cViewPr varScale="1">
        <p:scale>
          <a:sx n="209" d="100"/>
          <a:sy n="209" d="100"/>
        </p:scale>
        <p:origin x="184" y="21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3bb510c4d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3bb510c4d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3ab4a1d568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3ab4a1d568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39dc3acc53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39dc3acc53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39dc3acc5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39dc3acc5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3ab4a1d56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3ab4a1d56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kaggle.com/datasets/thedevastator/jobs-dataset-from-glassdoor/data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group8-final-project.s3-website-us-east-1.amazonaws.com/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1097000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Implementing AWS for Salary Analysis 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33865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D9D9D9"/>
                </a:solidFill>
              </a:rPr>
              <a:t>Group 8: Jupiter Kang, Crystal Kao, Alonso Romero </a:t>
            </a:r>
            <a:endParaRPr sz="2200">
              <a:solidFill>
                <a:srgbClr val="D9D9D9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419100" y="445025"/>
            <a:ext cx="8413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Scope of Project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419100" y="1152475"/>
            <a:ext cx="8105700" cy="3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Objective: Compare salaries of job listings based on if AWS is listed as a requirement in the description to see if knowing AWS pays more than jobs without AWS in the description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Compared to all data science job listings in 2017 on Glassdoor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dirty="0"/>
              <a:t>Goal: Create a dashboard in QuickSight to visualize our findings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740325" y="85725"/>
            <a:ext cx="4755600" cy="59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Source and Features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800100" y="714375"/>
            <a:ext cx="8134500" cy="42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4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21"/>
              <a:t>2017-2018 data: </a:t>
            </a:r>
            <a:r>
              <a:rPr lang="en" sz="1821" u="sng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https://www.kaggle.com/datasets/thedevastator/jobs-dataset-from-glassdoor/data</a:t>
            </a:r>
            <a:endParaRPr sz="182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821"/>
              <a:t>32 columns, 742 rows</a:t>
            </a:r>
            <a:endParaRPr/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41425" y="631100"/>
            <a:ext cx="6935125" cy="983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/>
          <p:cNvPicPr preferRelativeResize="0"/>
          <p:nvPr/>
        </p:nvPicPr>
        <p:blipFill rotWithShape="1">
          <a:blip r:embed="rId6">
            <a:alphaModFix/>
          </a:blip>
          <a:srcRect r="25412"/>
          <a:stretch/>
        </p:blipFill>
        <p:spPr>
          <a:xfrm>
            <a:off x="639550" y="1654000"/>
            <a:ext cx="3575375" cy="2113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273850" y="1654000"/>
            <a:ext cx="4825099" cy="2295441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/>
          <p:nvPr/>
        </p:nvSpPr>
        <p:spPr>
          <a:xfrm>
            <a:off x="639550" y="2064725"/>
            <a:ext cx="3513900" cy="117000"/>
          </a:xfrm>
          <a:prstGeom prst="rect">
            <a:avLst/>
          </a:prstGeom>
          <a:noFill/>
          <a:ln w="28575" cap="flat" cmpd="sng">
            <a:solidFill>
              <a:srgbClr val="FF9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5"/>
          <p:cNvSpPr/>
          <p:nvPr/>
        </p:nvSpPr>
        <p:spPr>
          <a:xfrm>
            <a:off x="639550" y="1910825"/>
            <a:ext cx="3513900" cy="153900"/>
          </a:xfrm>
          <a:prstGeom prst="rect">
            <a:avLst/>
          </a:prstGeom>
          <a:noFill/>
          <a:ln w="28575" cap="flat" cmpd="sng">
            <a:solidFill>
              <a:srgbClr val="FF9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Features to Implement</a:t>
            </a:r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S3 Bucket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dirty="0"/>
              <a:t>Store data in buckets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dirty="0"/>
              <a:t>Create static website to display findings in one place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VPC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dirty="0"/>
              <a:t>Create internet gateways, subnets, and routing tables for EC2 instances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EC2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dirty="0"/>
              <a:t>Create instances from computing sources in the cloud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dirty="0"/>
              <a:t>Run a </a:t>
            </a:r>
            <a:r>
              <a:rPr lang="en" dirty="0" err="1"/>
              <a:t>Jupyter</a:t>
            </a:r>
            <a:r>
              <a:rPr lang="en" dirty="0"/>
              <a:t> Notebook or Python file to preprocess data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 err="1"/>
              <a:t>QuickSight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dirty="0"/>
              <a:t>Connect with data from S3 bucket to create dashboards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dirty="0"/>
              <a:t>Create histogram to show the distribution of salaries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Architecture</a:t>
            </a:r>
            <a:endParaRPr/>
          </a:p>
        </p:txBody>
      </p:sp>
      <p:sp>
        <p:nvSpPr>
          <p:cNvPr id="84" name="Google Shape;84;p17"/>
          <p:cNvSpPr txBox="1"/>
          <p:nvPr/>
        </p:nvSpPr>
        <p:spPr>
          <a:xfrm>
            <a:off x="456775" y="1579125"/>
            <a:ext cx="1818000" cy="6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Kaggle Dataset</a:t>
            </a:r>
            <a:endParaRPr sz="180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Raw Data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85" name="Google Shape;85;p17"/>
          <p:cNvCxnSpPr>
            <a:stCxn id="84" idx="3"/>
            <a:endCxn id="86" idx="2"/>
          </p:cNvCxnSpPr>
          <p:nvPr/>
        </p:nvCxnSpPr>
        <p:spPr>
          <a:xfrm>
            <a:off x="2274775" y="1926225"/>
            <a:ext cx="17049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8" name="Google Shape;88;p17"/>
          <p:cNvSpPr txBox="1"/>
          <p:nvPr/>
        </p:nvSpPr>
        <p:spPr>
          <a:xfrm>
            <a:off x="6811250" y="2056338"/>
            <a:ext cx="1401900" cy="5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QuickSight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89" name="Google Shape;89;p17"/>
          <p:cNvCxnSpPr>
            <a:stCxn id="86" idx="4"/>
            <a:endCxn id="88" idx="1"/>
          </p:cNvCxnSpPr>
          <p:nvPr/>
        </p:nvCxnSpPr>
        <p:spPr>
          <a:xfrm>
            <a:off x="4929350" y="1926213"/>
            <a:ext cx="1881900" cy="387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0" name="Google Shape;90;p17"/>
          <p:cNvSpPr/>
          <p:nvPr/>
        </p:nvSpPr>
        <p:spPr>
          <a:xfrm>
            <a:off x="1221000" y="3108600"/>
            <a:ext cx="6566400" cy="1802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VPC</a:t>
            </a:r>
            <a:endParaRPr/>
          </a:p>
        </p:txBody>
      </p:sp>
      <p:sp>
        <p:nvSpPr>
          <p:cNvPr id="86" name="Google Shape;86;p17"/>
          <p:cNvSpPr/>
          <p:nvPr/>
        </p:nvSpPr>
        <p:spPr>
          <a:xfrm>
            <a:off x="3979675" y="1415200"/>
            <a:ext cx="949675" cy="1022025"/>
          </a:xfrm>
          <a:prstGeom prst="flowChartMagneticDisk">
            <a:avLst/>
          </a:prstGeom>
          <a:solidFill>
            <a:schemeClr val="accent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S3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1" name="Google Shape;91;p17"/>
          <p:cNvSpPr/>
          <p:nvPr/>
        </p:nvSpPr>
        <p:spPr>
          <a:xfrm>
            <a:off x="1537575" y="3305225"/>
            <a:ext cx="2424000" cy="1329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Public Subnet</a:t>
            </a:r>
            <a:endParaRPr/>
          </a:p>
        </p:txBody>
      </p:sp>
      <p:sp>
        <p:nvSpPr>
          <p:cNvPr id="92" name="Google Shape;92;p17"/>
          <p:cNvSpPr/>
          <p:nvPr/>
        </p:nvSpPr>
        <p:spPr>
          <a:xfrm>
            <a:off x="2844475" y="3556113"/>
            <a:ext cx="868200" cy="694200"/>
          </a:xfrm>
          <a:prstGeom prst="cube">
            <a:avLst>
              <a:gd name="adj" fmla="val 25000"/>
            </a:avLst>
          </a:prstGeom>
          <a:solidFill>
            <a:schemeClr val="accent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EC2</a:t>
            </a:r>
            <a:endParaRPr/>
          </a:p>
        </p:txBody>
      </p:sp>
      <p:sp>
        <p:nvSpPr>
          <p:cNvPr id="93" name="Google Shape;93;p17"/>
          <p:cNvSpPr/>
          <p:nvPr/>
        </p:nvSpPr>
        <p:spPr>
          <a:xfrm>
            <a:off x="5037875" y="3305225"/>
            <a:ext cx="2424000" cy="1329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Private Subnet</a:t>
            </a:r>
            <a:endParaRPr/>
          </a:p>
        </p:txBody>
      </p:sp>
      <p:sp>
        <p:nvSpPr>
          <p:cNvPr id="94" name="Google Shape;94;p17"/>
          <p:cNvSpPr/>
          <p:nvPr/>
        </p:nvSpPr>
        <p:spPr>
          <a:xfrm>
            <a:off x="5200675" y="3556113"/>
            <a:ext cx="868200" cy="694200"/>
          </a:xfrm>
          <a:prstGeom prst="cube">
            <a:avLst>
              <a:gd name="adj" fmla="val 25000"/>
            </a:avLst>
          </a:prstGeom>
          <a:solidFill>
            <a:schemeClr val="accent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EC2</a:t>
            </a:r>
            <a:endParaRPr/>
          </a:p>
        </p:txBody>
      </p:sp>
      <p:cxnSp>
        <p:nvCxnSpPr>
          <p:cNvPr id="95" name="Google Shape;95;p17"/>
          <p:cNvCxnSpPr>
            <a:stCxn id="91" idx="3"/>
            <a:endCxn id="93" idx="1"/>
          </p:cNvCxnSpPr>
          <p:nvPr/>
        </p:nvCxnSpPr>
        <p:spPr>
          <a:xfrm>
            <a:off x="3961575" y="3969875"/>
            <a:ext cx="1076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" name="Google Shape;96;p17"/>
          <p:cNvCxnSpPr>
            <a:cxnSpLocks/>
            <a:stCxn id="86" idx="3"/>
            <a:endCxn id="92" idx="0"/>
          </p:cNvCxnSpPr>
          <p:nvPr/>
        </p:nvCxnSpPr>
        <p:spPr>
          <a:xfrm flipH="1">
            <a:off x="3365350" y="2437225"/>
            <a:ext cx="1089163" cy="1118888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" name="Google Shape;97;p17"/>
          <p:cNvSpPr txBox="1"/>
          <p:nvPr/>
        </p:nvSpPr>
        <p:spPr>
          <a:xfrm>
            <a:off x="6421600" y="3712575"/>
            <a:ext cx="8682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</a:rPr>
              <a:t>Python File</a:t>
            </a:r>
            <a:endParaRPr sz="1000">
              <a:solidFill>
                <a:schemeClr val="dk2"/>
              </a:solidFill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6811250" y="1343125"/>
            <a:ext cx="1401900" cy="4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Website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99" name="Google Shape;99;p17"/>
          <p:cNvCxnSpPr>
            <a:stCxn id="86" idx="4"/>
            <a:endCxn id="98" idx="1"/>
          </p:cNvCxnSpPr>
          <p:nvPr/>
        </p:nvCxnSpPr>
        <p:spPr>
          <a:xfrm rot="10800000" flipH="1">
            <a:off x="4929350" y="1562613"/>
            <a:ext cx="1881900" cy="363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0" name="Google Shape;100;p17"/>
          <p:cNvCxnSpPr>
            <a:cxnSpLocks/>
            <a:stCxn id="92" idx="0"/>
            <a:endCxn id="86" idx="3"/>
          </p:cNvCxnSpPr>
          <p:nvPr/>
        </p:nvCxnSpPr>
        <p:spPr>
          <a:xfrm flipV="1">
            <a:off x="3365350" y="2437225"/>
            <a:ext cx="1089163" cy="1118888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E7D1-2828-4B44-81B4-12073A5FA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Dashboard Recording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325CF-F94E-72A2-2EA0-3F1BA687DC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4459246"/>
            <a:ext cx="8520600" cy="47845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Website: </a:t>
            </a:r>
            <a:r>
              <a:rPr lang="en-US" dirty="0">
                <a:hlinkClick r:id="rId2"/>
              </a:rPr>
              <a:t>http://group8-final-project.s3-website-us-east-1.amazonaws.com/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3925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428625" y="445025"/>
            <a:ext cx="8106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Conclusions</a:t>
            </a:r>
            <a:endParaRPr dirty="0"/>
          </a:p>
        </p:txBody>
      </p:sp>
      <p:sp>
        <p:nvSpPr>
          <p:cNvPr id="106" name="Google Shape;106;p18"/>
          <p:cNvSpPr txBox="1">
            <a:spLocks noGrp="1"/>
          </p:cNvSpPr>
          <p:nvPr>
            <p:ph type="body" idx="1"/>
          </p:nvPr>
        </p:nvSpPr>
        <p:spPr>
          <a:xfrm>
            <a:off x="485775" y="1152475"/>
            <a:ext cx="8048700" cy="356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-US" dirty="0"/>
              <a:t>Hypothesis: Jobs that require AWS skill tend to have a higher pay than jobs that don’t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-US" dirty="0"/>
              <a:t>Conclusion</a:t>
            </a:r>
            <a:r>
              <a:rPr lang="en-US"/>
              <a:t>: Yes, </a:t>
            </a:r>
            <a:r>
              <a:rPr lang="en-US" dirty="0"/>
              <a:t>jobs that require AWS skill tends to have a higher pay than jobs that don’t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 dirty="0"/>
              <a:t>Factors for consideration on salary differences:</a:t>
            </a: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 dirty="0"/>
              <a:t>Cost of living (Location)</a:t>
            </a: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 dirty="0"/>
              <a:t>Company type (Type of Ownership - government, private, etc.)</a:t>
            </a: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 dirty="0"/>
              <a:t>Industry/sector (Industry or Sector)</a:t>
            </a: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 dirty="0"/>
              <a:t>Experience level (Seniority)</a:t>
            </a: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A5584BC-3CEA-F507-F586-FB25B1873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633192"/>
              </p:ext>
            </p:extLst>
          </p:nvPr>
        </p:nvGraphicFramePr>
        <p:xfrm>
          <a:off x="1345770" y="3887384"/>
          <a:ext cx="6096000" cy="111252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99472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49802039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549818684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1487065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Contains AWS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 Salary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Avg. Salary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Salary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2526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$86K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$116K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$146K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092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$73K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$98K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$125K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7427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6424</TotalTime>
  <Words>300</Words>
  <Application>Microsoft Macintosh PowerPoint</Application>
  <PresentationFormat>On-screen Show (16:9)</PresentationFormat>
  <Paragraphs>83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Simple Light</vt:lpstr>
      <vt:lpstr>Implementing AWS for Salary Analysis </vt:lpstr>
      <vt:lpstr>Scope of Project</vt:lpstr>
      <vt:lpstr>Data Source and Features</vt:lpstr>
      <vt:lpstr>Features to Implement</vt:lpstr>
      <vt:lpstr>Project Architecture</vt:lpstr>
      <vt:lpstr>Dashboard Recording</vt:lpstr>
      <vt:lpstr>Conclusions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Alonso Romero</cp:lastModifiedBy>
  <cp:revision>2</cp:revision>
  <dcterms:modified xsi:type="dcterms:W3CDTF">2025-04-13T23:46:37Z</dcterms:modified>
</cp:coreProperties>
</file>